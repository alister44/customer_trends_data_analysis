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chibsted Grotesk"/>
      <p:regular r:id="rId201314"/>
    </p:embeddedFont>
    <p:embeddedFont>
      <p:font typeface="Schibsted Grotesk Medium"/>
      <p:regular r:id="rId201315"/>
    </p:embeddedFont>
    <p:embeddedFont>
      <p:font typeface="Schibsted Grotesk SemiBold"/>
      <p:regular r:id="rId201316"/>
    </p:embeddedFont>
    <p:embeddedFont>
      <p:font typeface="Schibsted Grotesk Bold"/>
      <p:regular r:id="rId201317"/>
    </p:embeddedFont>
    <p:embeddedFont>
      <p:font typeface="Spectral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executive review: customer activity demonstrates solid core retention and baseline transaction volume, yet subscription mechanics and basket expansion remain largely untapped levers.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rigorous three-stage methodology. Emphasize that all records were sanitized systematically, category median imputation resolved nulls, and data architecture is set up for repeatable decision 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healthy demand base, modest average purchase amount, and average review rating, then connect the clothing lead to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the 2:1 revenue skew toward male shoppers is an operational signal of past ad focus, not a limitation. Female customers represent a proven $75K baseline that can be unlocked with targeted merchandising.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stark contrast: with 3,116 loyal customers, brand retention is exceptional, yet subscription penetration is only 27% and subscribers spend no more ($59.49 vs $59.87) than casual buyers.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839 customers used discounts while spending above the average purchase amount. Hats, sneakers, coats, sweaters, and pants have the highest discounted-purchase rates, ranging from 47.37% to 50.00%. Decision: test targeted offers and monitor margin by product instead of broad discounting.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Young adults contribute $62,143, followed by middle-aged customers at $59,197. Adults contribute $55,978 and seniors $55,763. Decision: prioritize the highest-revenue segment while tailoring offers and creative to each age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Synthesize the five business decisions approved in the brief. Show how each connects directly back to an analytical finding: subscription mechanics, retention transitions, targeted discounting, product highlights, and demographic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942405"/>
            <a:ext cx="7315017" cy="192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spc="-48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Customer behavior is strong, but subscription value is underdeveloped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6390" y="4040386"/>
            <a:ext cx="7315017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quantitative portfolio review across 3,900 purchases to connect transaction behavior to operating choices.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06390" y="4742259"/>
            <a:ext cx="772140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5862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Customer Shopping Behavior Analysis · Client Decision Brief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3C1A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525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3388" y="5931595"/>
            <a:ext cx="3301917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Dataset scope: 3,900 customer purchases across demographics, product categories, and transaction terms.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00" spc="-13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A 3,900-purchase dataset connects behavior to business choices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0" y="1273572"/>
            <a:ext cx="8127797" cy="5584428"/>
          </a:xfrm>
          <a:prstGeom prst="rect">
            <a:avLst/>
          </a:prstGeom>
          <a:solidFill>
            <a:srgbClr val="3C1A2A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1502172"/>
            <a:ext cx="1202204" cy="934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400" spc="-128" kern="100" dirty="0">
                <a:solidFill>
                  <a:srgbClr val="DDA845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760990" y="2135188"/>
            <a:ext cx="601111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11" kern="100" dirty="0">
                <a:solidFill>
                  <a:srgbClr val="DDA845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Exhibit</a:t>
            </a:r>
            <a:pPr algn="l" indent="0" marL="0">
              <a:lnSpc>
                <a:spcPct val="104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 Analysis pipeline and methodology validation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6390" y="2779713"/>
            <a:ext cx="73558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84791" y="2773363"/>
            <a:ext cx="708741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3,900 purchases across 18 dimensional fields.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4791" y="3148013"/>
            <a:ext cx="7087415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Comprehensive attribute logging covering demographics, product categories, discount usage, shipping selection, review ratings, and subscription status.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90" y="3930452"/>
            <a:ext cx="73558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84791" y="3924102"/>
            <a:ext cx="708741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Three-stage analytical pipeline.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4791" y="4298752"/>
            <a:ext cx="7087415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Python execution for data sanitation and feature engineering, structured PostgreSQL schema queries for cohort logic, and Power BI visualization models.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90" y="5081191"/>
            <a:ext cx="73558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84791" y="5074841"/>
            <a:ext cx="708741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Medians applied for 37 missing ratings.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4791" y="5449491"/>
            <a:ext cx="7087415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Review ratings contained 37 null entries, imputed cleanly via respective product category medians to maintain rigorous distribution validity.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90" y="6206530"/>
            <a:ext cx="7365816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Source: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Customer Shopping Behavior transactional database (3,900 records, 18 fields). Cleaned via Python, validated in PostgreSQL.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57988" y="1546622"/>
            <a:ext cx="1097927" cy="57150"/>
          </a:xfrm>
          <a:prstGeom prst="roundRect">
            <a:avLst>
              <a:gd name="adj" fmla="val 49999"/>
            </a:avLst>
          </a:prstGeom>
          <a:solidFill>
            <a:srgbClr val="1E1A24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7988" y="1949847"/>
            <a:ext cx="1217384" cy="234950"/>
          </a:xfrm>
          <a:prstGeom prst="roundRect">
            <a:avLst>
              <a:gd name="adj" fmla="val 12973"/>
            </a:avLst>
          </a:prstGeom>
          <a:solidFill>
            <a:srgbClr val="D8F3EE"/>
          </a:solidFill>
          <a:ln/>
        </p:spPr>
      </p:sp>
      <p:sp>
        <p:nvSpPr>
          <p:cNvPr id="18" name="Text 16"/>
          <p:cNvSpPr/>
          <p:nvPr/>
        </p:nvSpPr>
        <p:spPr>
          <a:xfrm>
            <a:off x="8546886" y="2000647"/>
            <a:ext cx="16491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100" dirty="0">
                <a:solidFill>
                  <a:srgbClr val="34303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57988" y="2257822"/>
            <a:ext cx="33273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6F63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7988" y="2675334"/>
            <a:ext cx="3327317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Statistically representative.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3,900 balanced records yield sufficient sample power across age, gender, and category groupings.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7988" y="4199434"/>
            <a:ext cx="332731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Normalized values.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Zero-variance fields purged; continuous spending scaled to isolate pricing outliers.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57988" y="5478363"/>
            <a:ext cx="3327317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Decision-ready schemas.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Relational views ready for recurring operational dashboards and automated testing cycles.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6390" y="3739952"/>
            <a:ext cx="7365816" cy="12700"/>
          </a:xfrm>
          <a:prstGeom prst="rect">
            <a:avLst/>
          </a:prstGeom>
          <a:solidFill>
            <a:srgbClr val="94647A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390" y="4890691"/>
            <a:ext cx="7365816" cy="12700"/>
          </a:xfrm>
          <a:prstGeom prst="rect">
            <a:avLst/>
          </a:prstGeom>
          <a:solidFill>
            <a:srgbClr val="94647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00" spc="-13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The headline metric is healthy demand with a modest basket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0" y="3325813"/>
            <a:ext cx="8127797" cy="3532188"/>
          </a:xfrm>
          <a:prstGeom prst="rect">
            <a:avLst/>
          </a:prstGeom>
          <a:solidFill>
            <a:srgbClr val="3C1A2A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3732213"/>
            <a:ext cx="772140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11" kern="100" dirty="0">
                <a:solidFill>
                  <a:srgbClr val="DDA845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Exhibit</a:t>
            </a:r>
            <a:pPr algn="l" indent="0" marL="0">
              <a:lnSpc>
                <a:spcPct val="104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 Core customer behavior metrics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4065587"/>
          <a:ext cx="7315017" cy="914400"/>
        </p:xfrm>
        <a:graphic>
          <a:graphicData uri="http://schemas.openxmlformats.org/drawingml/2006/table">
            <a:tbl>
              <a:tblPr/>
              <a:tblGrid>
                <a:gridCol w="5120452"/>
                <a:gridCol w="2194565"/>
              </a:tblGrid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Metric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Value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Customers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3,900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Average purchase amount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$59.76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87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Average review rating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3.75 out of 5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34187" y="3776662"/>
            <a:ext cx="1072726" cy="57150"/>
          </a:xfrm>
          <a:prstGeom prst="roundRect">
            <a:avLst>
              <a:gd name="adj" fmla="val 49999"/>
            </a:avLst>
          </a:prstGeom>
          <a:solidFill>
            <a:srgbClr val="1E1A24"/>
          </a:solidFill>
          <a:ln/>
        </p:spPr>
      </p:sp>
      <p:sp>
        <p:nvSpPr>
          <p:cNvPr id="7" name="Text 4"/>
          <p:cNvSpPr/>
          <p:nvPr/>
        </p:nvSpPr>
        <p:spPr>
          <a:xfrm>
            <a:off x="8534187" y="4179888"/>
            <a:ext cx="325111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6F63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So what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34187" y="4554538"/>
            <a:ext cx="3251119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business has a broad demand base, with room to lift basket size and satisfaction.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34187" y="5493544"/>
            <a:ext cx="3251019" cy="19050"/>
          </a:xfrm>
          <a:prstGeom prst="roundRect">
            <a:avLst>
              <a:gd name="adj" fmla="val 49999"/>
            </a:avLst>
          </a:prstGeom>
          <a:solidFill>
            <a:srgbClr val="D3C9B6"/>
          </a:solidFill>
          <a:ln/>
        </p:spPr>
      </p:sp>
      <p:sp>
        <p:nvSpPr>
          <p:cNvPr id="10" name="Text 7"/>
          <p:cNvSpPr/>
          <p:nvPr/>
        </p:nvSpPr>
        <p:spPr>
          <a:xfrm>
            <a:off x="8534187" y="5715794"/>
            <a:ext cx="3251119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Clothing leads the dashboard in revenue and sales, ahead of accessories, footwear, and outerwear.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00" spc="-13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Revenue is concentrated in the male customer base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0" y="1527770"/>
            <a:ext cx="6095848" cy="5330230"/>
          </a:xfrm>
          <a:prstGeom prst="rect">
            <a:avLst/>
          </a:prstGeom>
          <a:solidFill>
            <a:srgbClr val="3C1A2A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1934170"/>
            <a:ext cx="568945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11" kern="100" dirty="0">
                <a:solidFill>
                  <a:srgbClr val="DDA845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Exhibit</a:t>
            </a:r>
            <a:pPr algn="l" indent="0" marL="0">
              <a:lnSpc>
                <a:spcPct val="104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 Revenue by gender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2267545"/>
            <a:ext cx="5283068" cy="4184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02237" y="3045916"/>
            <a:ext cx="1743230" cy="57150"/>
          </a:xfrm>
          <a:prstGeom prst="roundRect">
            <a:avLst>
              <a:gd name="adj" fmla="val 49999"/>
            </a:avLst>
          </a:prstGeom>
          <a:solidFill>
            <a:srgbClr val="1E1A24"/>
          </a:solidFill>
          <a:ln/>
        </p:spPr>
      </p:sp>
      <p:sp>
        <p:nvSpPr>
          <p:cNvPr id="7" name="Text 4"/>
          <p:cNvSpPr/>
          <p:nvPr/>
        </p:nvSpPr>
        <p:spPr>
          <a:xfrm>
            <a:off x="6502237" y="3449141"/>
            <a:ext cx="528306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6F63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So what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02237" y="3823791"/>
            <a:ext cx="5283068" cy="156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Male customers generated $157,890 in revenue versus $75,191 from female customers</a:t>
            </a:r>
            <a:endParaRPr lang="en-US" sz="1400" dirty="0"/>
          </a:p>
          <a:p>
            <a:pPr algn="l" marL="284480" indent="-28448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gap is a segmentation signal, not a reason to ignore female customers</a:t>
            </a:r>
            <a:endParaRPr lang="en-US" sz="1400" dirty="0"/>
          </a:p>
          <a:p>
            <a:pPr algn="l" marL="284480" indent="-28448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Decision: tailor acquisition and merchandising plans by audience economics, not one-size-fits-all reach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00" spc="-13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Loyal customers dominate the base, but subscription is not keeping pace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0" y="1632744"/>
            <a:ext cx="8127797" cy="5225256"/>
          </a:xfrm>
          <a:prstGeom prst="rect">
            <a:avLst/>
          </a:prstGeom>
          <a:solidFill>
            <a:srgbClr val="3C1A2A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1937544"/>
            <a:ext cx="1202204" cy="934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400" spc="-128" kern="100" dirty="0">
                <a:solidFill>
                  <a:srgbClr val="DDA845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760990" y="2570559"/>
            <a:ext cx="601111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11" kern="100" dirty="0">
                <a:solidFill>
                  <a:srgbClr val="DDA845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Exhibit</a:t>
            </a:r>
            <a:pPr algn="l" indent="0" marL="0">
              <a:lnSpc>
                <a:spcPct val="104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 Retention segments versus subscription penetration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3030934"/>
            <a:ext cx="3936902" cy="2222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83058" y="3030934"/>
            <a:ext cx="2589049" cy="63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3,116 Loyal buyers.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An overwhelming 80% of buyers show established retention behavior.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83058" y="4118868"/>
            <a:ext cx="2589049" cy="63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27% Subscriber rate.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73% of customers remain unsubscribed despite high purchase loyalty.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83058" y="5206802"/>
            <a:ext cx="2589049" cy="840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Flat spend delta.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Subscribers average $59.49 versus $59.87 for non-subscribers—a $0.38 gap with zero premium.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6390" y="6206530"/>
            <a:ext cx="7365816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Source: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Customer segmentation and subscription analysis. Retention cohort sizes: 3,116 Loyal, 701 Returning, 83 New; Subscriber rate: 27%.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57988" y="1905794"/>
            <a:ext cx="1097927" cy="57150"/>
          </a:xfrm>
          <a:prstGeom prst="roundRect">
            <a:avLst>
              <a:gd name="adj" fmla="val 49999"/>
            </a:avLst>
          </a:prstGeom>
          <a:solidFill>
            <a:srgbClr val="1E1A24"/>
          </a:solidFill>
          <a:ln/>
        </p:spPr>
      </p:sp>
      <p:sp>
        <p:nvSpPr>
          <p:cNvPr id="12" name="Shape 9"/>
          <p:cNvSpPr/>
          <p:nvPr/>
        </p:nvSpPr>
        <p:spPr>
          <a:xfrm>
            <a:off x="8457988" y="2309019"/>
            <a:ext cx="1724875" cy="234950"/>
          </a:xfrm>
          <a:prstGeom prst="roundRect">
            <a:avLst>
              <a:gd name="adj" fmla="val 12973"/>
            </a:avLst>
          </a:prstGeom>
          <a:solidFill>
            <a:srgbClr val="D8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8546886" y="2359819"/>
            <a:ext cx="215666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100" dirty="0">
                <a:solidFill>
                  <a:srgbClr val="34303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KEY VULNERABILITY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57988" y="2616994"/>
            <a:ext cx="33273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6F63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So what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57988" y="3042444"/>
            <a:ext cx="3327317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Retention without monetization.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Customers return reliably, but membership fails to extract added lifetime value.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57988" y="4379119"/>
            <a:ext cx="332731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Zero spend incentive.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Subscribing does not currently confer perceived basket value or higher ticket volume.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57988" y="5470525"/>
            <a:ext cx="3327317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Reposition the program.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Introduce tiered benefits, early drops, and bundle pricing to elevate subscriber spend above $60.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457988" y="4194969"/>
            <a:ext cx="3327317" cy="12700"/>
          </a:xfrm>
          <a:prstGeom prst="rect">
            <a:avLst/>
          </a:prstGeom>
          <a:solidFill>
            <a:srgbClr val="D3C9B6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7988" y="5286375"/>
            <a:ext cx="3327317" cy="12700"/>
          </a:xfrm>
          <a:prstGeom prst="rect">
            <a:avLst/>
          </a:prstGeom>
          <a:solidFill>
            <a:srgbClr val="D3C9B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00" spc="-13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Discounts can drive conversion without defining the whole business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0" y="1316434"/>
            <a:ext cx="8127797" cy="5541566"/>
          </a:xfrm>
          <a:prstGeom prst="rect">
            <a:avLst/>
          </a:prstGeom>
          <a:solidFill>
            <a:srgbClr val="3C1A2A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1545034"/>
            <a:ext cx="1202204" cy="934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400" spc="-128" kern="100" dirty="0">
                <a:solidFill>
                  <a:srgbClr val="DDA845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760990" y="2178050"/>
            <a:ext cx="601111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11" kern="100" dirty="0">
                <a:solidFill>
                  <a:srgbClr val="DDA845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Exhibit</a:t>
            </a:r>
            <a:pPr algn="l" indent="0" marL="0">
              <a:lnSpc>
                <a:spcPct val="104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 Top products by discounted purchase penetration rate (%)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3044825"/>
            <a:ext cx="3659195" cy="2065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9448" y="3044825"/>
            <a:ext cx="1776269" cy="3101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839 customers</a:t>
            </a:r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used discounts while spending above the average purchase amount.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Hats, sneakers, coats, sweaters, and pants have the highest discounted-purchase rates, ranging from 47.37% to 50.00%.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57988" y="1589484"/>
            <a:ext cx="1097927" cy="57150"/>
          </a:xfrm>
          <a:prstGeom prst="roundRect">
            <a:avLst>
              <a:gd name="adj" fmla="val 49999"/>
            </a:avLst>
          </a:prstGeom>
          <a:solidFill>
            <a:srgbClr val="1E1A24"/>
          </a:solidFill>
          <a:ln/>
        </p:spPr>
      </p:sp>
      <p:sp>
        <p:nvSpPr>
          <p:cNvPr id="9" name="Shape 6"/>
          <p:cNvSpPr/>
          <p:nvPr/>
        </p:nvSpPr>
        <p:spPr>
          <a:xfrm>
            <a:off x="8457988" y="1992709"/>
            <a:ext cx="1239013" cy="234950"/>
          </a:xfrm>
          <a:prstGeom prst="roundRect">
            <a:avLst>
              <a:gd name="adj" fmla="val 12973"/>
            </a:avLst>
          </a:prstGeom>
          <a:solidFill>
            <a:srgbClr val="D8F3EE"/>
          </a:solidFill>
          <a:ln/>
        </p:spPr>
      </p:sp>
      <p:sp>
        <p:nvSpPr>
          <p:cNvPr id="10" name="Text 7"/>
          <p:cNvSpPr/>
          <p:nvPr/>
        </p:nvSpPr>
        <p:spPr>
          <a:xfrm>
            <a:off x="8546886" y="2043509"/>
            <a:ext cx="167080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100" dirty="0">
                <a:solidFill>
                  <a:srgbClr val="34303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POLICY SHIFT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57988" y="2300684"/>
            <a:ext cx="33273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6F63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So what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57988" y="5766594"/>
            <a:ext cx="332731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Decision: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test targeted offers and monitor margin by product instead of broad discounting.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00" spc="-13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Product and service signals point to practical growth levers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0" y="2901950"/>
            <a:ext cx="7721407" cy="3956050"/>
          </a:xfrm>
          <a:prstGeom prst="rect">
            <a:avLst/>
          </a:prstGeom>
          <a:solidFill>
            <a:srgbClr val="3C1A2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3308350"/>
          <a:ext cx="6908627" cy="914400"/>
        </p:xfrm>
        <a:graphic>
          <a:graphicData uri="http://schemas.openxmlformats.org/drawingml/2006/table">
            <a:tbl>
              <a:tblPr/>
              <a:tblGrid>
                <a:gridCol w="4421474"/>
                <a:gridCol w="2487153"/>
              </a:tblGrid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Product / service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Rating / spend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gloves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3.86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sandals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3.84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boots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3.82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hat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3.80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skirt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3.78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93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Express shipping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$60.48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  <a:tr h="387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Standard shipping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$58.46</a:t>
                      </a:r>
                      <a:endParaRPr lang="en-US" sz="14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C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1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A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7797" y="3352800"/>
            <a:ext cx="1206966" cy="57150"/>
          </a:xfrm>
          <a:prstGeom prst="roundRect">
            <a:avLst>
              <a:gd name="adj" fmla="val 49999"/>
            </a:avLst>
          </a:prstGeom>
          <a:solidFill>
            <a:srgbClr val="1E1A24"/>
          </a:solidFill>
          <a:ln/>
        </p:spPr>
      </p:sp>
      <p:sp>
        <p:nvSpPr>
          <p:cNvPr id="6" name="Text 3"/>
          <p:cNvSpPr/>
          <p:nvPr/>
        </p:nvSpPr>
        <p:spPr>
          <a:xfrm>
            <a:off x="8127797" y="3756025"/>
            <a:ext cx="365750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B6F63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Decision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7797" y="4130675"/>
            <a:ext cx="3657509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Feature trusted products and use speed as a value proposition where the economics support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00" spc="-8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Young adults are the largest revenue opportunity by age group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3429000"/>
            <a:ext cx="8127797" cy="3429000"/>
          </a:xfrm>
          <a:prstGeom prst="rect">
            <a:avLst/>
          </a:prstGeom>
          <a:solidFill>
            <a:srgbClr val="3C1A2A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3733800"/>
            <a:ext cx="1202204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850" spc="-77" kern="100" dirty="0">
                <a:solidFill>
                  <a:srgbClr val="DDA845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07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1760990" y="4062809"/>
            <a:ext cx="601111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7" kern="100" dirty="0">
                <a:solidFill>
                  <a:srgbClr val="DDA845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Exhibit</a:t>
            </a:r>
            <a:pPr algn="l" indent="0" marL="0">
              <a:lnSpc>
                <a:spcPct val="104000"/>
              </a:lnSpc>
              <a:buNone/>
            </a:pPr>
            <a:r>
              <a:rPr lang="en-US" sz="650" spc="7" kern="10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 Total revenue contribution by age demographic tier ($)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4351734"/>
            <a:ext cx="4419489" cy="3031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6390" y="7440017"/>
            <a:ext cx="7721407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Source: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Customer demographic revenue distribution. Young Adult: $62,143; Middle-aged: $59,197; Adult: $55,978; Senior: $55,763.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457988" y="3758803"/>
            <a:ext cx="1097927" cy="31651"/>
          </a:xfrm>
          <a:prstGeom prst="roundRect">
            <a:avLst>
              <a:gd name="adj" fmla="val 49998"/>
            </a:avLst>
          </a:prstGeom>
          <a:solidFill>
            <a:srgbClr val="1E1A24"/>
          </a:solidFill>
          <a:ln/>
        </p:spPr>
      </p:sp>
      <p:sp>
        <p:nvSpPr>
          <p:cNvPr id="9" name="Shape 6"/>
          <p:cNvSpPr/>
          <p:nvPr/>
        </p:nvSpPr>
        <p:spPr>
          <a:xfrm>
            <a:off x="8457988" y="3924102"/>
            <a:ext cx="1831036" cy="234950"/>
          </a:xfrm>
          <a:prstGeom prst="roundRect">
            <a:avLst>
              <a:gd name="adj" fmla="val 12973"/>
            </a:avLst>
          </a:prstGeom>
          <a:solidFill>
            <a:srgbClr val="D8F3EE"/>
          </a:solidFill>
          <a:ln/>
        </p:spPr>
      </p:sp>
      <p:sp>
        <p:nvSpPr>
          <p:cNvPr id="10" name="Text 7"/>
          <p:cNvSpPr/>
          <p:nvPr/>
        </p:nvSpPr>
        <p:spPr>
          <a:xfrm>
            <a:off x="8546886" y="3974902"/>
            <a:ext cx="22628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100" dirty="0">
                <a:solidFill>
                  <a:srgbClr val="34303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TARGETING PRIORITY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57988" y="4185245"/>
            <a:ext cx="3327317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B6F63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So what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57988" y="4379416"/>
            <a:ext cx="3327317" cy="23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Young adults contribute $62,143, followed by middle-aged customers at $59,197.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457988" y="5227836"/>
            <a:ext cx="3327317" cy="117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Adults contribute $55,978 and seniors $55,763.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457988" y="5958681"/>
            <a:ext cx="3327317" cy="23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34303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Decision:</a:t>
            </a:r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prioritize the highest-revenue segment while tailoring offers and creative to each age group.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00" spc="-13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Five decisions can turn the analysis into a growth 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06390" y="968177"/>
            <a:ext cx="11378915" cy="5483423"/>
          </a:xfrm>
          <a:prstGeom prst="rect">
            <a:avLst/>
          </a:prstGeom>
          <a:solidFill>
            <a:srgbClr val="3C1A2A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1196777"/>
            <a:ext cx="10921727" cy="1404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Boost subscriptions with exclusive, measurable benefits</a:t>
            </a:r>
            <a:endParaRPr lang="en-US" sz="1400" dirty="0"/>
          </a:p>
          <a:p>
            <a:pPr algn="l" marL="284480" indent="-28448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Reward repeat buyers and move more customers into the Loyal segment</a:t>
            </a:r>
            <a:endParaRPr lang="en-US" sz="1400" dirty="0"/>
          </a:p>
          <a:p>
            <a:pPr algn="l" marL="284480" indent="-28448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Review discount policy to balance conversion with margin control</a:t>
            </a:r>
            <a:endParaRPr lang="en-US" sz="1400" dirty="0"/>
          </a:p>
          <a:p>
            <a:pPr algn="l" marL="284480" indent="-28448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Position top-rated and best-selling products more prominently</a:t>
            </a:r>
            <a:endParaRPr lang="en-US" sz="1400" dirty="0"/>
          </a:p>
          <a:p>
            <a:pPr algn="l" marL="284480" indent="-284480">
              <a:lnSpc>
                <a:spcPct val="115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Target high-revenue age groups and test express-shipping messaging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406400"/>
            <a:ext cx="113789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700" spc="-13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Start with three tests, then scale what moves the metrics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0" y="1552575"/>
            <a:ext cx="8127797" cy="5305425"/>
          </a:xfrm>
          <a:prstGeom prst="rect">
            <a:avLst/>
          </a:prstGeom>
          <a:solidFill>
            <a:srgbClr val="3C1A2A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2187575"/>
            <a:ext cx="810002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1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1013197" y="2289175"/>
            <a:ext cx="647961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Subscription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3197" y="2663825"/>
            <a:ext cx="688600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Compare benefit-led offers against the current proposition.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84" y="3721894"/>
            <a:ext cx="810002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2</a:t>
            </a:r>
            <a:endParaRPr lang="en-US" sz="2950" dirty="0"/>
          </a:p>
        </p:txBody>
      </p:sp>
      <p:sp>
        <p:nvSpPr>
          <p:cNvPr id="8" name="Text 6"/>
          <p:cNvSpPr/>
          <p:nvPr/>
        </p:nvSpPr>
        <p:spPr>
          <a:xfrm>
            <a:off x="1013197" y="3823494"/>
            <a:ext cx="647961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Discount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3197" y="4198144"/>
            <a:ext cx="6479616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Target the five discount-dependent products and track margin, conversion, and repeat purchase.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84" y="5501481"/>
            <a:ext cx="810002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3</a:t>
            </a:r>
            <a:endParaRPr lang="en-US" sz="2950" dirty="0"/>
          </a:p>
        </p:txBody>
      </p:sp>
      <p:sp>
        <p:nvSpPr>
          <p:cNvPr id="11" name="Text 9"/>
          <p:cNvSpPr/>
          <p:nvPr/>
        </p:nvSpPr>
        <p:spPr>
          <a:xfrm>
            <a:off x="1013197" y="5603081"/>
            <a:ext cx="647961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Merchandising test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13197" y="5977731"/>
            <a:ext cx="688600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Feature top-rated products with age- and gender-relevant creative.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34187" y="2003425"/>
            <a:ext cx="1072726" cy="57150"/>
          </a:xfrm>
          <a:prstGeom prst="roundRect">
            <a:avLst>
              <a:gd name="adj" fmla="val 49999"/>
            </a:avLst>
          </a:prstGeom>
          <a:solidFill>
            <a:srgbClr val="1E1A24"/>
          </a:solidFill>
          <a:ln/>
        </p:spPr>
      </p:sp>
      <p:sp>
        <p:nvSpPr>
          <p:cNvPr id="14" name="Text 12"/>
          <p:cNvSpPr/>
          <p:nvPr/>
        </p:nvSpPr>
        <p:spPr>
          <a:xfrm>
            <a:off x="8534187" y="2406650"/>
            <a:ext cx="325111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40" kern="100" dirty="0">
                <a:solidFill>
                  <a:srgbClr val="1E1A24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3 Tests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534187" y="5961063"/>
            <a:ext cx="3251119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03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 the dashboard as the operating view for the next decision cycle.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594" y="3309144"/>
            <a:ext cx="7670608" cy="12700"/>
          </a:xfrm>
          <a:prstGeom prst="rect">
            <a:avLst/>
          </a:prstGeom>
          <a:solidFill>
            <a:srgbClr val="94647A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594" y="5088731"/>
            <a:ext cx="7670608" cy="12700"/>
          </a:xfrm>
          <a:prstGeom prst="rect">
            <a:avLst/>
          </a:prstGeom>
          <a:solidFill>
            <a:srgbClr val="94647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2026-10-06T10:16:18Z</dcterms:created>
  <dcterms:modified xsi:type="dcterms:W3CDTF">2026-10-06T10:16:18Z</dcterms:modified>
</cp:coreProperties>
</file>